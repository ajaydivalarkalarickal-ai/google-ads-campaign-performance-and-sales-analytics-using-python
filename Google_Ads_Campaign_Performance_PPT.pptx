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Total sales ($000)</c:v>
          </c:tx>
          <c:spPr>
            <a:solidFill>
              <a:srgbClr val="00A6A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Aptos"/>
                    <a:ea typeface="Aptos"/>
                    <a:cs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Desktop</c:v>
              </c:pt>
              <c:pt idx="1">
                <c:v>Mobile</c:v>
              </c:pt>
              <c:pt idx="2">
                <c:v>Tablet</c:v>
              </c:pt>
            </c:strLit>
          </c:cat>
          <c:val>
            <c:numLit>
              <c:formatCode>General</c:formatCode>
              <c:ptCount val="3"/>
              <c:pt idx="0">
                <c:v>1331.9580000000001</c:v>
              </c:pt>
              <c:pt idx="1">
                <c:v>1314.069</c:v>
              </c:pt>
              <c:pt idx="2">
                <c:v>1251.3409999999999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9A5-4BDE-B0F0-CEEB3012B4C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ROAS</c:v>
          </c:tx>
          <c:spPr>
            <a:solidFill>
              <a:srgbClr val="1E5B8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Aptos"/>
                    <a:ea typeface="Aptos"/>
                    <a:cs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Data analytics course</c:v>
              </c:pt>
              <c:pt idx="1">
                <c:v>Data analytics training</c:v>
              </c:pt>
              <c:pt idx="2">
                <c:v>Learn data analytics</c:v>
              </c:pt>
              <c:pt idx="3">
                <c:v>Data analytics online</c:v>
              </c:pt>
              <c:pt idx="4">
                <c:v>Analytics for data</c:v>
              </c:pt>
              <c:pt idx="5">
                <c:v>Online data analytics</c:v>
              </c:pt>
            </c:strLit>
          </c:cat>
          <c:val>
            <c:numLit>
              <c:formatCode>General</c:formatCode>
              <c:ptCount val="6"/>
              <c:pt idx="0">
                <c:v>7.0869999999999997</c:v>
              </c:pt>
              <c:pt idx="1">
                <c:v>7.01</c:v>
              </c:pt>
              <c:pt idx="2">
                <c:v>7.0090000000000003</c:v>
              </c:pt>
              <c:pt idx="3">
                <c:v>6.9749999999999996</c:v>
              </c:pt>
              <c:pt idx="4">
                <c:v>6.91</c:v>
              </c:pt>
              <c:pt idx="5">
                <c:v>6.827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589-47D9-B337-A7AA364C598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Daily sales</c:v>
          </c:tx>
          <c:spPr>
            <a:ln w="28575">
              <a:solidFill>
                <a:srgbClr val="00A6A6"/>
              </a:solidFill>
            </a:ln>
          </c:spPr>
          <c:marker>
            <c:symbol val="diamond"/>
            <c:size val="4"/>
            <c:spPr>
              <a:solidFill>
                <a:srgbClr val="00A6A6"/>
              </a:solidFill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General</c:formatCode>
              <c:ptCount val="30"/>
              <c:pt idx="0">
                <c:v>114775</c:v>
              </c:pt>
              <c:pt idx="1">
                <c:v>131982</c:v>
              </c:pt>
              <c:pt idx="2">
                <c:v>111905</c:v>
              </c:pt>
              <c:pt idx="3">
                <c:v>126554</c:v>
              </c:pt>
              <c:pt idx="4">
                <c:v>138380</c:v>
              </c:pt>
              <c:pt idx="5">
                <c:v>109164</c:v>
              </c:pt>
              <c:pt idx="6">
                <c:v>129223</c:v>
              </c:pt>
              <c:pt idx="7">
                <c:v>133933</c:v>
              </c:pt>
              <c:pt idx="8">
                <c:v>118213</c:v>
              </c:pt>
              <c:pt idx="9">
                <c:v>123172</c:v>
              </c:pt>
              <c:pt idx="10">
                <c:v>111751</c:v>
              </c:pt>
              <c:pt idx="11">
                <c:v>113680</c:v>
              </c:pt>
              <c:pt idx="12">
                <c:v>128761</c:v>
              </c:pt>
              <c:pt idx="13">
                <c:v>174719</c:v>
              </c:pt>
              <c:pt idx="14">
                <c:v>141346</c:v>
              </c:pt>
              <c:pt idx="15">
                <c:v>137116</c:v>
              </c:pt>
              <c:pt idx="16">
                <c:v>101935</c:v>
              </c:pt>
              <c:pt idx="17">
                <c:v>150932</c:v>
              </c:pt>
              <c:pt idx="18">
                <c:v>132037</c:v>
              </c:pt>
              <c:pt idx="19">
                <c:v>146630</c:v>
              </c:pt>
              <c:pt idx="20">
                <c:v>137456</c:v>
              </c:pt>
              <c:pt idx="21">
                <c:v>138876</c:v>
              </c:pt>
              <c:pt idx="22">
                <c:v>140327</c:v>
              </c:pt>
              <c:pt idx="23">
                <c:v>132414</c:v>
              </c:pt>
              <c:pt idx="24">
                <c:v>150688</c:v>
              </c:pt>
              <c:pt idx="25">
                <c:v>134220</c:v>
              </c:pt>
              <c:pt idx="26">
                <c:v>128258</c:v>
              </c:pt>
              <c:pt idx="27">
                <c:v>118417</c:v>
              </c:pt>
              <c:pt idx="28">
                <c:v>129426</c:v>
              </c:pt>
              <c:pt idx="29">
                <c:v>111078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7321-48FE-82D3-5A35B438DB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Google Ads project notebook and CSV dataset. Cover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Google Ads project notebook and CSV dataset.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Google Ads project notebook and CSV dataset.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Google Ads project notebook and CSV dataset.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Google Ads project notebook and CSV dataset.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Google Ads project notebook and CSV dataset.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Google Ads project notebook and CSV dataset.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Google Ads project notebook and CSV dataset. Device totals from the completed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Google Ads project notebook and CSV dataset. Keyword labels were cleaned before aggregation.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Google Ads project notebook and CSV dataset. Daily totals calculated after data cleaning and median imputation.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Google Ads project notebook and CSV dataset. Scatter plot image supplied by the user and generated from the completed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Google Ads project notebook and CSV dataset. Limitations: one campaign, one location, one month, and imputed missing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A0849B6-700A-4F5A-91E1-982E8EBC68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4CEECF-E5E1-4F6C-B923-FDBBF264A6F0}"/>
              </a:ext>
            </a:extLst>
          </p:cNvPr>
          <p:cNvSpPr>
            <a:spLocks noGrp="1"/>
          </p:cNvSpPr>
          <p:nvPr/>
        </p:nvSpPr>
        <p:spPr>
          <a:xfrm>
            <a:off x="704850" y="68580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GOOGLE ADS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A21B0C-D24E-49C7-BAA0-9321B2498C5E}"/>
              </a:ext>
            </a:extLst>
          </p:cNvPr>
          <p:cNvSpPr>
            <a:spLocks noGrp="1"/>
          </p:cNvSpPr>
          <p:nvPr/>
        </p:nvSpPr>
        <p:spPr>
          <a:xfrm>
            <a:off x="704850" y="1257300"/>
            <a:ext cx="781050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Campaign Performance</a:t>
            </a:r>
          </a:p>
          <a:p>
            <a:pPr algn="l"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&amp; Sales Analytics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9BBA44-5FA4-46D1-A4F7-4027A221F60A}"/>
              </a:ext>
            </a:extLst>
          </p:cNvPr>
          <p:cNvSpPr>
            <a:spLocks noGrp="1"/>
          </p:cNvSpPr>
          <p:nvPr/>
        </p:nvSpPr>
        <p:spPr>
          <a:xfrm>
            <a:off x="742950" y="312420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C9D7E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9D7E3"/>
                </a:solidFill>
                <a:latin typeface="Aptos"/>
                <a:ea typeface="Aptos"/>
                <a:cs typeface="Aptos"/>
              </a:rPr>
              <a:t>Python final project presentation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A55163-30AB-4617-A86E-916956D24C42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4476750" cy="28575"/>
          </a:xfrm>
          <a:prstGeom prst="rect">
            <a:avLst/>
          </a:prstGeom>
          <a:solidFill>
            <a:srgbClr val="F26B5E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B24605-3E90-4B3A-81E1-48AD9C8691E7}"/>
              </a:ext>
            </a:extLst>
          </p:cNvPr>
          <p:cNvSpPr>
            <a:spLocks noGrp="1"/>
          </p:cNvSpPr>
          <p:nvPr/>
        </p:nvSpPr>
        <p:spPr>
          <a:xfrm>
            <a:off x="742950" y="4267200"/>
            <a:ext cx="4000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Ajay Divakar 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AE5C67-C629-449B-81A7-C6AF2CAE442E}"/>
              </a:ext>
            </a:extLst>
          </p:cNvPr>
          <p:cNvSpPr>
            <a:spLocks noGrp="1"/>
          </p:cNvSpPr>
          <p:nvPr/>
        </p:nvSpPr>
        <p:spPr>
          <a:xfrm>
            <a:off x="742950" y="4686300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B8C7D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C7D4"/>
                </a:solidFill>
                <a:latin typeface="Aptos"/>
                <a:ea typeface="Aptos"/>
                <a:cs typeface="Aptos"/>
              </a:rPr>
              <a:t>Data Analytics Project  |  Google Colab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87EAF4-6CFC-47DD-AF9D-D0C58B0F83A8}"/>
              </a:ext>
            </a:extLst>
          </p:cNvPr>
          <p:cNvSpPr>
            <a:spLocks noGrp="1"/>
          </p:cNvSpPr>
          <p:nvPr/>
        </p:nvSpPr>
        <p:spPr>
          <a:xfrm>
            <a:off x="8991600" y="1381125"/>
            <a:ext cx="2000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2,600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740C8D-7FC5-4A91-94DB-86FE3DC08235}"/>
              </a:ext>
            </a:extLst>
          </p:cNvPr>
          <p:cNvSpPr>
            <a:spLocks noGrp="1"/>
          </p:cNvSpPr>
          <p:nvPr/>
        </p:nvSpPr>
        <p:spPr>
          <a:xfrm>
            <a:off x="8991600" y="2028825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B8C7D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C7D4"/>
                </a:solidFill>
                <a:latin typeface="Aptos"/>
                <a:ea typeface="Aptos"/>
                <a:cs typeface="Aptos"/>
              </a:rPr>
              <a:t>campaign records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6ACD2-2FF8-4492-AADE-D9B782D5D5BC}"/>
              </a:ext>
            </a:extLst>
          </p:cNvPr>
          <p:cNvSpPr>
            <a:spLocks noGrp="1"/>
          </p:cNvSpPr>
          <p:nvPr/>
        </p:nvSpPr>
        <p:spPr>
          <a:xfrm>
            <a:off x="8991600" y="3143250"/>
            <a:ext cx="2000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4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6.97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E0E22A-EF80-4C8D-A457-4731541444E5}"/>
              </a:ext>
            </a:extLst>
          </p:cNvPr>
          <p:cNvSpPr>
            <a:spLocks noGrp="1"/>
          </p:cNvSpPr>
          <p:nvPr/>
        </p:nvSpPr>
        <p:spPr>
          <a:xfrm>
            <a:off x="8991600" y="379095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B8C7D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C7D4"/>
                </a:solidFill>
                <a:latin typeface="Aptos"/>
                <a:ea typeface="Aptos"/>
                <a:cs typeface="Aptos"/>
              </a:rPr>
              <a:t>overall ROAS</a:t>
            </a:r>
          </a:p>
        </p:txBody>
      </p:sp>
    </p:spTree>
    <p:extLst>
      <p:ext uri="{BB962C8B-B14F-4D97-AF65-F5344CB8AC3E}">
        <p14:creationId xmlns:p14="http://schemas.microsoft.com/office/powerpoint/2010/main" val="978600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39676E7-21C0-464D-B6FC-86378F12BC5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Project purpose and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C054F0-3277-4A9D-91F9-2BC03A3EFFBC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914400" cy="47625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2FFCF0-C632-4475-974F-4B3D9EE4626C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4572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125" b="1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B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BCC82B-EA5C-457B-85A0-E28B608B0CCF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000"/>
          </a:bodyPr>
          <a:lstStyle/>
          <a:p>
            <a:pPr algn="l">
              <a:defRPr sz="750" b="0">
                <a:solidFill>
                  <a:srgbClr val="8291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91A1"/>
                </a:solidFill>
                <a:latin typeface="Aptos"/>
                <a:ea typeface="Aptos"/>
                <a:cs typeface="Aptos"/>
              </a:rPr>
              <a:t>Google Ads Campaign Performance &amp; Sales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0800B0-EBA8-4E39-82B3-235E0E097AC7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4000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Business question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CBFEA3-E70F-49AE-A785-E46506CAABC1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447675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How effectively did advertising spend generate attention, conversions and sales?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0A690D-D38D-4DA7-A6E9-B1EDD9754B50}"/>
              </a:ext>
            </a:extLst>
          </p:cNvPr>
          <p:cNvSpPr>
            <a:spLocks noGrp="1"/>
          </p:cNvSpPr>
          <p:nvPr/>
        </p:nvSpPr>
        <p:spPr>
          <a:xfrm>
            <a:off x="5810250" y="1352550"/>
            <a:ext cx="19050" cy="4095750"/>
          </a:xfrm>
          <a:prstGeom prst="rect">
            <a:avLst/>
          </a:prstGeom>
          <a:solidFill>
            <a:srgbClr val="D9E3EA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887382-9487-495D-9156-7AE868369EC5}"/>
              </a:ext>
            </a:extLst>
          </p:cNvPr>
          <p:cNvSpPr>
            <a:spLocks noGrp="1"/>
          </p:cNvSpPr>
          <p:nvPr/>
        </p:nvSpPr>
        <p:spPr>
          <a:xfrm>
            <a:off x="6229350" y="1295400"/>
            <a:ext cx="5143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2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6B5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19CC27-111B-4567-A6A1-BF3463FF966F}"/>
              </a:ext>
            </a:extLst>
          </p:cNvPr>
          <p:cNvSpPr>
            <a:spLocks noGrp="1"/>
          </p:cNvSpPr>
          <p:nvPr/>
        </p:nvSpPr>
        <p:spPr>
          <a:xfrm>
            <a:off x="6858000" y="129540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536"/>
                </a:solidFill>
                <a:latin typeface="Aptos"/>
                <a:ea typeface="Aptos"/>
                <a:cs typeface="Aptos"/>
              </a:rPr>
              <a:t>Measure campaign scale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85EE4B-7E48-48D8-AC45-621AA2D446BC}"/>
              </a:ext>
            </a:extLst>
          </p:cNvPr>
          <p:cNvSpPr>
            <a:spLocks noGrp="1"/>
          </p:cNvSpPr>
          <p:nvPr/>
        </p:nvSpPr>
        <p:spPr>
          <a:xfrm>
            <a:off x="6858000" y="1657350"/>
            <a:ext cx="4095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Impressions, clicks, leads and conversions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3E7FFC-0A7A-4EA4-A564-500B2D51C2E5}"/>
              </a:ext>
            </a:extLst>
          </p:cNvPr>
          <p:cNvSpPr>
            <a:spLocks noGrp="1"/>
          </p:cNvSpPr>
          <p:nvPr/>
        </p:nvSpPr>
        <p:spPr>
          <a:xfrm>
            <a:off x="6229350" y="2362200"/>
            <a:ext cx="5143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2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6B5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7520B2-4DE4-476C-A7CC-F62914A26413}"/>
              </a:ext>
            </a:extLst>
          </p:cNvPr>
          <p:cNvSpPr>
            <a:spLocks noGrp="1"/>
          </p:cNvSpPr>
          <p:nvPr/>
        </p:nvSpPr>
        <p:spPr>
          <a:xfrm>
            <a:off x="6858000" y="236220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536"/>
                </a:solidFill>
                <a:latin typeface="Aptos"/>
                <a:ea typeface="Aptos"/>
                <a:cs typeface="Aptos"/>
              </a:rPr>
              <a:t>Evaluate efficiency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E3321B-B31F-4D2D-880E-788E31171C45}"/>
              </a:ext>
            </a:extLst>
          </p:cNvPr>
          <p:cNvSpPr>
            <a:spLocks noGrp="1"/>
          </p:cNvSpPr>
          <p:nvPr/>
        </p:nvSpPr>
        <p:spPr>
          <a:xfrm>
            <a:off x="6858000" y="2724150"/>
            <a:ext cx="4095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CTR, CPC, CPL, CPA and ROAS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9DBDF1-D660-4EE3-855A-F25713F0ABF1}"/>
              </a:ext>
            </a:extLst>
          </p:cNvPr>
          <p:cNvSpPr>
            <a:spLocks noGrp="1"/>
          </p:cNvSpPr>
          <p:nvPr/>
        </p:nvSpPr>
        <p:spPr>
          <a:xfrm>
            <a:off x="6229350" y="3429000"/>
            <a:ext cx="5143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2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6B5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23EF02-A7C6-406E-87F3-10F79A7C3474}"/>
              </a:ext>
            </a:extLst>
          </p:cNvPr>
          <p:cNvSpPr>
            <a:spLocks noGrp="1"/>
          </p:cNvSpPr>
          <p:nvPr/>
        </p:nvSpPr>
        <p:spPr>
          <a:xfrm>
            <a:off x="6858000" y="342900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536"/>
                </a:solidFill>
                <a:latin typeface="Aptos"/>
                <a:ea typeface="Aptos"/>
                <a:cs typeface="Aptos"/>
              </a:rPr>
              <a:t>Compare performance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33C01C-CBED-4C63-83EF-5A21A96ADFDE}"/>
              </a:ext>
            </a:extLst>
          </p:cNvPr>
          <p:cNvSpPr>
            <a:spLocks noGrp="1"/>
          </p:cNvSpPr>
          <p:nvPr/>
        </p:nvSpPr>
        <p:spPr>
          <a:xfrm>
            <a:off x="6858000" y="3790950"/>
            <a:ext cx="4095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Devices, keywords and daily sales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BF8544-8958-4D0B-934B-D3007A443ACE}"/>
              </a:ext>
            </a:extLst>
          </p:cNvPr>
          <p:cNvSpPr>
            <a:spLocks noGrp="1"/>
          </p:cNvSpPr>
          <p:nvPr/>
        </p:nvSpPr>
        <p:spPr>
          <a:xfrm>
            <a:off x="6229350" y="4495800"/>
            <a:ext cx="5143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2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6B5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FDC2B3-A897-4949-A735-C1EFD2D9559C}"/>
              </a:ext>
            </a:extLst>
          </p:cNvPr>
          <p:cNvSpPr>
            <a:spLocks noGrp="1"/>
          </p:cNvSpPr>
          <p:nvPr/>
        </p:nvSpPr>
        <p:spPr>
          <a:xfrm>
            <a:off x="6858000" y="449580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536"/>
                </a:solidFill>
                <a:latin typeface="Aptos"/>
                <a:ea typeface="Aptos"/>
                <a:cs typeface="Aptos"/>
              </a:rPr>
              <a:t>Translate results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A87E7C-6554-4A7F-949A-945ED10DD63B}"/>
              </a:ext>
            </a:extLst>
          </p:cNvPr>
          <p:cNvSpPr>
            <a:spLocks noGrp="1"/>
          </p:cNvSpPr>
          <p:nvPr/>
        </p:nvSpPr>
        <p:spPr>
          <a:xfrm>
            <a:off x="6858000" y="4857750"/>
            <a:ext cx="4095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Business insights and practical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096521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50591D7-03BE-4CB4-8E12-2B532D1B100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Dataset 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8F189F-9D79-4190-AFED-089CB5A533DF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914400" cy="47625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DB5537-7E95-4107-B7F8-9CC224DEB1C3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4572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125" b="1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B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832701-0967-43CD-B40C-884F4261070C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000"/>
          </a:bodyPr>
          <a:lstStyle/>
          <a:p>
            <a:pPr algn="l">
              <a:defRPr sz="750" b="0">
                <a:solidFill>
                  <a:srgbClr val="8291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91A1"/>
                </a:solidFill>
                <a:latin typeface="Aptos"/>
                <a:ea typeface="Aptos"/>
                <a:cs typeface="Aptos"/>
              </a:rPr>
              <a:t>Google Ads Campaign Performance &amp; Sales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34B441-25F0-4162-8ABD-E2462D37F8F8}"/>
              </a:ext>
            </a:extLst>
          </p:cNvPr>
          <p:cNvSpPr>
            <a:spLocks noGrp="1"/>
          </p:cNvSpPr>
          <p:nvPr/>
        </p:nvSpPr>
        <p:spPr>
          <a:xfrm>
            <a:off x="666750" y="1200150"/>
            <a:ext cx="7239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One campaign in Hyderabad during November 2024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CF1249-BC33-4DA3-8ADD-FE358018D175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2190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0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2,600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44A070-9D97-4822-A372-85C9D0F31E63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2190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rows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0F40A9-CC7F-4C67-BF73-5986D0882949}"/>
              </a:ext>
            </a:extLst>
          </p:cNvPr>
          <p:cNvSpPr>
            <a:spLocks noGrp="1"/>
          </p:cNvSpPr>
          <p:nvPr/>
        </p:nvSpPr>
        <p:spPr>
          <a:xfrm>
            <a:off x="3448050" y="2000250"/>
            <a:ext cx="2190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0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BCB59C-74AC-4C13-BE69-9019A722567C}"/>
              </a:ext>
            </a:extLst>
          </p:cNvPr>
          <p:cNvSpPr>
            <a:spLocks noGrp="1"/>
          </p:cNvSpPr>
          <p:nvPr/>
        </p:nvSpPr>
        <p:spPr>
          <a:xfrm>
            <a:off x="3448050" y="2686050"/>
            <a:ext cx="2190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original columns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A79B4F-DF82-4183-96D5-43DA6EBB0903}"/>
              </a:ext>
            </a:extLst>
          </p:cNvPr>
          <p:cNvSpPr>
            <a:spLocks noGrp="1"/>
          </p:cNvSpPr>
          <p:nvPr/>
        </p:nvSpPr>
        <p:spPr>
          <a:xfrm>
            <a:off x="6229350" y="2000250"/>
            <a:ext cx="2190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000" b="1">
                <a:solidFill>
                  <a:srgbClr val="F26B5E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26B5E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6809DA-2787-4BAF-8484-AB9C87821DBF}"/>
              </a:ext>
            </a:extLst>
          </p:cNvPr>
          <p:cNvSpPr>
            <a:spLocks noGrp="1"/>
          </p:cNvSpPr>
          <p:nvPr/>
        </p:nvSpPr>
        <p:spPr>
          <a:xfrm>
            <a:off x="6229350" y="2686050"/>
            <a:ext cx="2190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columns with missing values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71EE14-F9B8-45F4-938C-62CDF3400E3F}"/>
              </a:ext>
            </a:extLst>
          </p:cNvPr>
          <p:cNvSpPr>
            <a:spLocks noGrp="1"/>
          </p:cNvSpPr>
          <p:nvPr/>
        </p:nvSpPr>
        <p:spPr>
          <a:xfrm>
            <a:off x="9010650" y="2000250"/>
            <a:ext cx="2190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0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684BD5-37DF-474F-AE59-C04A4EC2F433}"/>
              </a:ext>
            </a:extLst>
          </p:cNvPr>
          <p:cNvSpPr>
            <a:spLocks noGrp="1"/>
          </p:cNvSpPr>
          <p:nvPr/>
        </p:nvSpPr>
        <p:spPr>
          <a:xfrm>
            <a:off x="9010650" y="2686050"/>
            <a:ext cx="2190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duplicate rows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9146CF-3581-4F5B-96FD-4D0E9F10ABAD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10839450" cy="9525"/>
          </a:xfrm>
          <a:prstGeom prst="rect">
            <a:avLst/>
          </a:prstGeom>
          <a:solidFill>
            <a:srgbClr val="D9E3EA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25C7A0-AE93-4795-84DC-CA2728535017}"/>
              </a:ext>
            </a:extLst>
          </p:cNvPr>
          <p:cNvSpPr>
            <a:spLocks noGrp="1"/>
          </p:cNvSpPr>
          <p:nvPr/>
        </p:nvSpPr>
        <p:spPr>
          <a:xfrm>
            <a:off x="666750" y="390525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Core fields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5ECE94-71B0-47EC-BD79-F425AEF93E14}"/>
              </a:ext>
            </a:extLst>
          </p:cNvPr>
          <p:cNvSpPr>
            <a:spLocks noGrp="1"/>
          </p:cNvSpPr>
          <p:nvPr/>
        </p:nvSpPr>
        <p:spPr>
          <a:xfrm>
            <a:off x="666750" y="4324350"/>
            <a:ext cx="10382250" cy="819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Ad ID  •  Campaign  •  Impressions  •  Clicks  •  Cost  •  Leads  •  Conversions  •  Sale Amount  •  Date  •  Device  •  Keyword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E5A8B1-D683-43C3-9EA4-0957A476D01E}"/>
              </a:ext>
            </a:extLst>
          </p:cNvPr>
          <p:cNvSpPr>
            <a:spLocks noGrp="1"/>
          </p:cNvSpPr>
          <p:nvPr/>
        </p:nvSpPr>
        <p:spPr>
          <a:xfrm>
            <a:off x="666750" y="5467350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Initial issues: missing values, currency stored as text, inconsistent spelling and capitalization, and dates stored as text.</a:t>
            </a:r>
          </a:p>
        </p:txBody>
      </p:sp>
    </p:spTree>
    <p:extLst>
      <p:ext uri="{BB962C8B-B14F-4D97-AF65-F5344CB8AC3E}">
        <p14:creationId xmlns:p14="http://schemas.microsoft.com/office/powerpoint/2010/main" val="304104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D3A4F8B5-6694-402C-9221-8F547C59356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Analysis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D93BE6-6213-410F-A668-826049ADC5F1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914400" cy="47625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404F6B-9D08-49DE-A0F4-F3AAC1FDF3D8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4572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125" b="1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B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876269-91B7-4867-A8D1-7D9E48B2DFEC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000"/>
          </a:bodyPr>
          <a:lstStyle/>
          <a:p>
            <a:pPr algn="l">
              <a:defRPr sz="750" b="0">
                <a:solidFill>
                  <a:srgbClr val="8291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91A1"/>
                </a:solidFill>
                <a:latin typeface="Aptos"/>
                <a:ea typeface="Aptos"/>
                <a:cs typeface="Aptos"/>
              </a:rPr>
              <a:t>Google Ads Campaign Performance &amp; Sales Analytics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707D4A2-B494-43EA-A7AB-3FC197C12869}"/>
              </a:ext>
            </a:extLst>
          </p:cNvPr>
          <p:cNvSpPr>
            <a:spLocks noGrp="1"/>
          </p:cNvSpPr>
          <p:nvPr/>
        </p:nvSpPr>
        <p:spPr>
          <a:xfrm>
            <a:off x="552450" y="2238375"/>
            <a:ext cx="1619250" cy="1619250"/>
          </a:xfrm>
          <a:prstGeom prst="roundRect">
            <a:avLst>
              <a:gd name="adj" fmla="val 4706"/>
            </a:avLst>
          </a:prstGeom>
          <a:solidFill>
            <a:srgbClr val="102A43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582149-AD41-4845-AA65-2D43F5979CE3}"/>
              </a:ext>
            </a:extLst>
          </p:cNvPr>
          <p:cNvSpPr>
            <a:spLocks noGrp="1"/>
          </p:cNvSpPr>
          <p:nvPr/>
        </p:nvSpPr>
        <p:spPr>
          <a:xfrm>
            <a:off x="723900" y="23812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DBE85D-AADC-4734-BA99-83263BAB9776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12763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Load and inspect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F38455-64DA-422C-AA81-307399CF4144}"/>
              </a:ext>
            </a:extLst>
          </p:cNvPr>
          <p:cNvSpPr>
            <a:spLocks noGrp="1"/>
          </p:cNvSpPr>
          <p:nvPr/>
        </p:nvSpPr>
        <p:spPr>
          <a:xfrm>
            <a:off x="2209800" y="2781300"/>
            <a:ext cx="2667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251"/>
          </a:bodyPr>
          <a:lstStyle/>
          <a:p>
            <a:pPr algn="ctr">
              <a:defRPr sz="2550" b="1">
                <a:solidFill>
                  <a:srgbClr val="F26B5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6B5E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D46B602-F52B-484D-B22A-49F7BECBEE4B}"/>
              </a:ext>
            </a:extLst>
          </p:cNvPr>
          <p:cNvSpPr>
            <a:spLocks noGrp="1"/>
          </p:cNvSpPr>
          <p:nvPr/>
        </p:nvSpPr>
        <p:spPr>
          <a:xfrm>
            <a:off x="2476500" y="2238375"/>
            <a:ext cx="1619250" cy="1619250"/>
          </a:xfrm>
          <a:prstGeom prst="roundRect">
            <a:avLst>
              <a:gd name="adj" fmla="val 4706"/>
            </a:avLst>
          </a:prstGeom>
          <a:solidFill>
            <a:srgbClr val="00A6A6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56EE81-6F34-4378-BAD5-D0CE992F6E82}"/>
              </a:ext>
            </a:extLst>
          </p:cNvPr>
          <p:cNvSpPr>
            <a:spLocks noGrp="1"/>
          </p:cNvSpPr>
          <p:nvPr/>
        </p:nvSpPr>
        <p:spPr>
          <a:xfrm>
            <a:off x="2647950" y="23812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C99CFC-BEFA-4CFA-B35D-B9FEBF564625}"/>
              </a:ext>
            </a:extLst>
          </p:cNvPr>
          <p:cNvSpPr>
            <a:spLocks noGrp="1"/>
          </p:cNvSpPr>
          <p:nvPr/>
        </p:nvSpPr>
        <p:spPr>
          <a:xfrm>
            <a:off x="2647950" y="2857500"/>
            <a:ext cx="12763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Clean categories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AF31AB-48F0-4E2E-878C-3609102B1710}"/>
              </a:ext>
            </a:extLst>
          </p:cNvPr>
          <p:cNvSpPr>
            <a:spLocks noGrp="1"/>
          </p:cNvSpPr>
          <p:nvPr/>
        </p:nvSpPr>
        <p:spPr>
          <a:xfrm>
            <a:off x="4133850" y="2781300"/>
            <a:ext cx="2667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251"/>
          </a:bodyPr>
          <a:lstStyle/>
          <a:p>
            <a:pPr algn="ctr">
              <a:defRPr sz="2550" b="1">
                <a:solidFill>
                  <a:srgbClr val="F26B5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6B5E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9510114-05B7-41CC-B056-DD4F6D7CF3FB}"/>
              </a:ext>
            </a:extLst>
          </p:cNvPr>
          <p:cNvSpPr>
            <a:spLocks noGrp="1"/>
          </p:cNvSpPr>
          <p:nvPr/>
        </p:nvSpPr>
        <p:spPr>
          <a:xfrm>
            <a:off x="4400550" y="2238375"/>
            <a:ext cx="1619250" cy="1619250"/>
          </a:xfrm>
          <a:prstGeom prst="roundRect">
            <a:avLst>
              <a:gd name="adj" fmla="val 4706"/>
            </a:avLst>
          </a:prstGeom>
          <a:solidFill>
            <a:srgbClr val="102A43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D0F76F-BCEF-484F-AC44-F636E0A9F40C}"/>
              </a:ext>
            </a:extLst>
          </p:cNvPr>
          <p:cNvSpPr>
            <a:spLocks noGrp="1"/>
          </p:cNvSpPr>
          <p:nvPr/>
        </p:nvSpPr>
        <p:spPr>
          <a:xfrm>
            <a:off x="4572000" y="23812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C6A157-0EB6-49E0-B83E-32D4D9BB6489}"/>
              </a:ext>
            </a:extLst>
          </p:cNvPr>
          <p:cNvSpPr>
            <a:spLocks noGrp="1"/>
          </p:cNvSpPr>
          <p:nvPr/>
        </p:nvSpPr>
        <p:spPr>
          <a:xfrm>
            <a:off x="4572000" y="2857500"/>
            <a:ext cx="12763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Convert data types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813B86-201D-413C-B836-F731A8DD9532}"/>
              </a:ext>
            </a:extLst>
          </p:cNvPr>
          <p:cNvSpPr>
            <a:spLocks noGrp="1"/>
          </p:cNvSpPr>
          <p:nvPr/>
        </p:nvSpPr>
        <p:spPr>
          <a:xfrm>
            <a:off x="6057900" y="2781300"/>
            <a:ext cx="2667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251"/>
          </a:bodyPr>
          <a:lstStyle/>
          <a:p>
            <a:pPr algn="ctr">
              <a:defRPr sz="2550" b="1">
                <a:solidFill>
                  <a:srgbClr val="F26B5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6B5E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69C190A-BE6D-46BC-A8CD-C9CF5E70C35B}"/>
              </a:ext>
            </a:extLst>
          </p:cNvPr>
          <p:cNvSpPr>
            <a:spLocks noGrp="1"/>
          </p:cNvSpPr>
          <p:nvPr/>
        </p:nvSpPr>
        <p:spPr>
          <a:xfrm>
            <a:off x="6324600" y="2238375"/>
            <a:ext cx="1619250" cy="1619250"/>
          </a:xfrm>
          <a:prstGeom prst="roundRect">
            <a:avLst>
              <a:gd name="adj" fmla="val 4706"/>
            </a:avLst>
          </a:prstGeom>
          <a:solidFill>
            <a:srgbClr val="00A6A6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5FDAC0-299C-4A59-8C55-DBA82B2706D9}"/>
              </a:ext>
            </a:extLst>
          </p:cNvPr>
          <p:cNvSpPr>
            <a:spLocks noGrp="1"/>
          </p:cNvSpPr>
          <p:nvPr/>
        </p:nvSpPr>
        <p:spPr>
          <a:xfrm>
            <a:off x="6496050" y="23812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BB5A89-49E3-4886-BCC3-7AFE47E053CC}"/>
              </a:ext>
            </a:extLst>
          </p:cNvPr>
          <p:cNvSpPr>
            <a:spLocks noGrp="1"/>
          </p:cNvSpPr>
          <p:nvPr/>
        </p:nvSpPr>
        <p:spPr>
          <a:xfrm>
            <a:off x="6496050" y="2857500"/>
            <a:ext cx="12763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44"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Handle missing values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8585B0-AA0F-4A87-B60D-1BE05C9F33FD}"/>
              </a:ext>
            </a:extLst>
          </p:cNvPr>
          <p:cNvSpPr>
            <a:spLocks noGrp="1"/>
          </p:cNvSpPr>
          <p:nvPr/>
        </p:nvSpPr>
        <p:spPr>
          <a:xfrm>
            <a:off x="7981950" y="2781300"/>
            <a:ext cx="2667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251"/>
          </a:bodyPr>
          <a:lstStyle/>
          <a:p>
            <a:pPr algn="ctr">
              <a:defRPr sz="2550" b="1">
                <a:solidFill>
                  <a:srgbClr val="F26B5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6B5E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265809E-7AFE-4E3C-A8E9-DE549B345ECC}"/>
              </a:ext>
            </a:extLst>
          </p:cNvPr>
          <p:cNvSpPr>
            <a:spLocks noGrp="1"/>
          </p:cNvSpPr>
          <p:nvPr/>
        </p:nvSpPr>
        <p:spPr>
          <a:xfrm>
            <a:off x="8248650" y="2238375"/>
            <a:ext cx="1619250" cy="1619250"/>
          </a:xfrm>
          <a:prstGeom prst="roundRect">
            <a:avLst>
              <a:gd name="adj" fmla="val 4706"/>
            </a:avLst>
          </a:prstGeom>
          <a:solidFill>
            <a:srgbClr val="102A43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72B41E-7F75-4473-A84B-5D8C83A484AA}"/>
              </a:ext>
            </a:extLst>
          </p:cNvPr>
          <p:cNvSpPr>
            <a:spLocks noGrp="1"/>
          </p:cNvSpPr>
          <p:nvPr/>
        </p:nvSpPr>
        <p:spPr>
          <a:xfrm>
            <a:off x="8420100" y="23812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B5D46D-5C4B-4172-B48F-40C6902FE46A}"/>
              </a:ext>
            </a:extLst>
          </p:cNvPr>
          <p:cNvSpPr>
            <a:spLocks noGrp="1"/>
          </p:cNvSpPr>
          <p:nvPr/>
        </p:nvSpPr>
        <p:spPr>
          <a:xfrm>
            <a:off x="8420100" y="2857500"/>
            <a:ext cx="12763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Create KPIs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20D8D3-0A2C-497D-BE65-BA72EFB7D7D8}"/>
              </a:ext>
            </a:extLst>
          </p:cNvPr>
          <p:cNvSpPr>
            <a:spLocks noGrp="1"/>
          </p:cNvSpPr>
          <p:nvPr/>
        </p:nvSpPr>
        <p:spPr>
          <a:xfrm>
            <a:off x="9906000" y="2781300"/>
            <a:ext cx="2667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251"/>
          </a:bodyPr>
          <a:lstStyle/>
          <a:p>
            <a:pPr algn="ctr">
              <a:defRPr sz="2550" b="1">
                <a:solidFill>
                  <a:srgbClr val="F26B5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6B5E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E9AA0AA-514E-484F-8B0A-21692FBDEB87}"/>
              </a:ext>
            </a:extLst>
          </p:cNvPr>
          <p:cNvSpPr>
            <a:spLocks noGrp="1"/>
          </p:cNvSpPr>
          <p:nvPr/>
        </p:nvSpPr>
        <p:spPr>
          <a:xfrm>
            <a:off x="10172700" y="2238375"/>
            <a:ext cx="1619250" cy="1619250"/>
          </a:xfrm>
          <a:prstGeom prst="roundRect">
            <a:avLst>
              <a:gd name="adj" fmla="val 4706"/>
            </a:avLst>
          </a:prstGeom>
          <a:solidFill>
            <a:srgbClr val="00A6A6"/>
          </a:solidFill>
          <a:ln w="0">
            <a:noFill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C4B4C4-BE17-4DDC-AF98-7E093A2281EF}"/>
              </a:ext>
            </a:extLst>
          </p:cNvPr>
          <p:cNvSpPr>
            <a:spLocks noGrp="1"/>
          </p:cNvSpPr>
          <p:nvPr/>
        </p:nvSpPr>
        <p:spPr>
          <a:xfrm>
            <a:off x="10344150" y="23812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0CB1FE-28E0-4EF4-9F3B-144BFC82EE56}"/>
              </a:ext>
            </a:extLst>
          </p:cNvPr>
          <p:cNvSpPr>
            <a:spLocks noGrp="1"/>
          </p:cNvSpPr>
          <p:nvPr/>
        </p:nvSpPr>
        <p:spPr>
          <a:xfrm>
            <a:off x="10344150" y="2857500"/>
            <a:ext cx="12763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02"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Analyze and visualize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AA50D83-818A-4850-8A16-0B6ABF8A5CF0}"/>
              </a:ext>
            </a:extLst>
          </p:cNvPr>
          <p:cNvSpPr>
            <a:spLocks noGrp="1"/>
          </p:cNvSpPr>
          <p:nvPr/>
        </p:nvSpPr>
        <p:spPr>
          <a:xfrm>
            <a:off x="1190625" y="4572000"/>
            <a:ext cx="9810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The workflow preserves all 2,600 records while converting the raw file into an analysis-ready dataset.</a:t>
            </a:r>
          </a:p>
        </p:txBody>
      </p:sp>
    </p:spTree>
    <p:extLst>
      <p:ext uri="{BB962C8B-B14F-4D97-AF65-F5344CB8AC3E}">
        <p14:creationId xmlns:p14="http://schemas.microsoft.com/office/powerpoint/2010/main" val="1533900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1E8D217-D104-4826-A553-E065886E11B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Data cleaning decisions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FED34F-DAD3-4F0F-9DC8-1829CE5632F7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914400" cy="47625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DA884A-5CDD-4B6F-963F-5DAE88AE487D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4572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125" b="1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B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2BD29A-520B-4EF8-BFBF-A849525F8EE3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000"/>
          </a:bodyPr>
          <a:lstStyle/>
          <a:p>
            <a:pPr algn="l">
              <a:defRPr sz="750" b="0">
                <a:solidFill>
                  <a:srgbClr val="8291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91A1"/>
                </a:solidFill>
                <a:latin typeface="Aptos"/>
                <a:ea typeface="Aptos"/>
                <a:cs typeface="Aptos"/>
              </a:rPr>
              <a:t>Google Ads Campaign Performance &amp; Sales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4C3AD5-49BD-43FB-889C-921D893555E1}"/>
              </a:ext>
            </a:extLst>
          </p:cNvPr>
          <p:cNvSpPr>
            <a:spLocks noGrp="1"/>
          </p:cNvSpPr>
          <p:nvPr/>
        </p:nvSpPr>
        <p:spPr>
          <a:xfrm>
            <a:off x="704850" y="1238250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Campaign and location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0DCFD4-3AD9-4E0A-AD96-9B02B936E893}"/>
              </a:ext>
            </a:extLst>
          </p:cNvPr>
          <p:cNvSpPr>
            <a:spLocks noGrp="1"/>
          </p:cNvSpPr>
          <p:nvPr/>
        </p:nvSpPr>
        <p:spPr>
          <a:xfrm>
            <a:off x="3333750" y="1295400"/>
            <a:ext cx="57150" cy="323850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E53BD4-C86F-4BCB-950E-FA7F6CB344B9}"/>
              </a:ext>
            </a:extLst>
          </p:cNvPr>
          <p:cNvSpPr>
            <a:spLocks noGrp="1"/>
          </p:cNvSpPr>
          <p:nvPr/>
        </p:nvSpPr>
        <p:spPr>
          <a:xfrm>
            <a:off x="3638550" y="1238250"/>
            <a:ext cx="7524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Corrected spelling variants and standardized labels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A37C69-ECC6-496B-A028-688891A4C49A}"/>
              </a:ext>
            </a:extLst>
          </p:cNvPr>
          <p:cNvSpPr>
            <a:spLocks noGrp="1"/>
          </p:cNvSpPr>
          <p:nvPr/>
        </p:nvSpPr>
        <p:spPr>
          <a:xfrm>
            <a:off x="704850" y="1847850"/>
            <a:ext cx="10458450" cy="9525"/>
          </a:xfrm>
          <a:prstGeom prst="rect">
            <a:avLst/>
          </a:prstGeom>
          <a:solidFill>
            <a:srgbClr val="D9E3EA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BB2649-EFE4-4359-B4B8-7DA0C697699B}"/>
              </a:ext>
            </a:extLst>
          </p:cNvPr>
          <p:cNvSpPr>
            <a:spLocks noGrp="1"/>
          </p:cNvSpPr>
          <p:nvPr/>
        </p:nvSpPr>
        <p:spPr>
          <a:xfrm>
            <a:off x="704850" y="2019300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Device and keyword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794AAD-DE85-413B-BF65-A097CBCDBF2B}"/>
              </a:ext>
            </a:extLst>
          </p:cNvPr>
          <p:cNvSpPr>
            <a:spLocks noGrp="1"/>
          </p:cNvSpPr>
          <p:nvPr/>
        </p:nvSpPr>
        <p:spPr>
          <a:xfrm>
            <a:off x="3333750" y="2076450"/>
            <a:ext cx="57150" cy="323850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3569B7-CEB9-4A98-8913-B70835D15AB5}"/>
              </a:ext>
            </a:extLst>
          </p:cNvPr>
          <p:cNvSpPr>
            <a:spLocks noGrp="1"/>
          </p:cNvSpPr>
          <p:nvPr/>
        </p:nvSpPr>
        <p:spPr>
          <a:xfrm>
            <a:off x="3638550" y="2019300"/>
            <a:ext cx="7524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Standardized capitalization and corrected keyword spelling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06377F-D8CE-4ECB-B832-0C86BCE16F88}"/>
              </a:ext>
            </a:extLst>
          </p:cNvPr>
          <p:cNvSpPr>
            <a:spLocks noGrp="1"/>
          </p:cNvSpPr>
          <p:nvPr/>
        </p:nvSpPr>
        <p:spPr>
          <a:xfrm>
            <a:off x="704850" y="2628900"/>
            <a:ext cx="10458450" cy="9525"/>
          </a:xfrm>
          <a:prstGeom prst="rect">
            <a:avLst/>
          </a:prstGeom>
          <a:solidFill>
            <a:srgbClr val="D9E3EA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086C8B-8DD3-4D66-8341-1AA664AD5896}"/>
              </a:ext>
            </a:extLst>
          </p:cNvPr>
          <p:cNvSpPr>
            <a:spLocks noGrp="1"/>
          </p:cNvSpPr>
          <p:nvPr/>
        </p:nvSpPr>
        <p:spPr>
          <a:xfrm>
            <a:off x="704850" y="2800350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Cost and sales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5EF551-8C7C-42CC-A35A-387C82CAFB92}"/>
              </a:ext>
            </a:extLst>
          </p:cNvPr>
          <p:cNvSpPr>
            <a:spLocks noGrp="1"/>
          </p:cNvSpPr>
          <p:nvPr/>
        </p:nvSpPr>
        <p:spPr>
          <a:xfrm>
            <a:off x="3333750" y="2857500"/>
            <a:ext cx="57150" cy="323850"/>
          </a:xfrm>
          <a:prstGeom prst="rect">
            <a:avLst/>
          </a:prstGeom>
          <a:solidFill>
            <a:srgbClr val="1E5B8E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6B4B2B-EAB2-40BB-AE55-0D2F0830BC90}"/>
              </a:ext>
            </a:extLst>
          </p:cNvPr>
          <p:cNvSpPr>
            <a:spLocks noGrp="1"/>
          </p:cNvSpPr>
          <p:nvPr/>
        </p:nvSpPr>
        <p:spPr>
          <a:xfrm>
            <a:off x="3638550" y="2800350"/>
            <a:ext cx="7524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Removed currency symbols and converted values to numeric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A73529-6528-4DD5-94BC-9E036EDBB1AE}"/>
              </a:ext>
            </a:extLst>
          </p:cNvPr>
          <p:cNvSpPr>
            <a:spLocks noGrp="1"/>
          </p:cNvSpPr>
          <p:nvPr/>
        </p:nvSpPr>
        <p:spPr>
          <a:xfrm>
            <a:off x="704850" y="3409950"/>
            <a:ext cx="10458450" cy="9525"/>
          </a:xfrm>
          <a:prstGeom prst="rect">
            <a:avLst/>
          </a:prstGeom>
          <a:solidFill>
            <a:srgbClr val="D9E3EA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EEAC76-0608-47BF-98BB-9DB91797C17D}"/>
              </a:ext>
            </a:extLst>
          </p:cNvPr>
          <p:cNvSpPr>
            <a:spLocks noGrp="1"/>
          </p:cNvSpPr>
          <p:nvPr/>
        </p:nvSpPr>
        <p:spPr>
          <a:xfrm>
            <a:off x="704850" y="3581400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Advertisement date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EE58C2-FDCA-4035-BC27-C001DA96C10E}"/>
              </a:ext>
            </a:extLst>
          </p:cNvPr>
          <p:cNvSpPr>
            <a:spLocks noGrp="1"/>
          </p:cNvSpPr>
          <p:nvPr/>
        </p:nvSpPr>
        <p:spPr>
          <a:xfrm>
            <a:off x="3333750" y="3638550"/>
            <a:ext cx="57150" cy="323850"/>
          </a:xfrm>
          <a:prstGeom prst="rect">
            <a:avLst/>
          </a:prstGeom>
          <a:solidFill>
            <a:srgbClr val="1E5B8E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66FD07-A349-4F7C-851D-518D3BF40474}"/>
              </a:ext>
            </a:extLst>
          </p:cNvPr>
          <p:cNvSpPr>
            <a:spLocks noGrp="1"/>
          </p:cNvSpPr>
          <p:nvPr/>
        </p:nvSpPr>
        <p:spPr>
          <a:xfrm>
            <a:off x="3638550" y="3581400"/>
            <a:ext cx="7524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Converted day-month-year text into datetime values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33FB74-9A92-4258-BD5A-D5412A39E03C}"/>
              </a:ext>
            </a:extLst>
          </p:cNvPr>
          <p:cNvSpPr>
            <a:spLocks noGrp="1"/>
          </p:cNvSpPr>
          <p:nvPr/>
        </p:nvSpPr>
        <p:spPr>
          <a:xfrm>
            <a:off x="704850" y="4191000"/>
            <a:ext cx="10458450" cy="9525"/>
          </a:xfrm>
          <a:prstGeom prst="rect">
            <a:avLst/>
          </a:prstGeom>
          <a:solidFill>
            <a:srgbClr val="D9E3EA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AACA25-B3C4-42C8-99A2-9716AB4A7E35}"/>
              </a:ext>
            </a:extLst>
          </p:cNvPr>
          <p:cNvSpPr>
            <a:spLocks noGrp="1"/>
          </p:cNvSpPr>
          <p:nvPr/>
        </p:nvSpPr>
        <p:spPr>
          <a:xfrm>
            <a:off x="704850" y="4362450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Missing numerical data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EE7391-6A46-4DD0-A346-9E27D804022E}"/>
              </a:ext>
            </a:extLst>
          </p:cNvPr>
          <p:cNvSpPr>
            <a:spLocks noGrp="1"/>
          </p:cNvSpPr>
          <p:nvPr/>
        </p:nvSpPr>
        <p:spPr>
          <a:xfrm>
            <a:off x="3333750" y="4419600"/>
            <a:ext cx="57150" cy="323850"/>
          </a:xfrm>
          <a:prstGeom prst="rect">
            <a:avLst/>
          </a:prstGeom>
          <a:solidFill>
            <a:srgbClr val="F26B5E"/>
          </a:solidFill>
          <a:ln w="0">
            <a:noFill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E5C037-3DF7-4176-8691-07AB47420073}"/>
              </a:ext>
            </a:extLst>
          </p:cNvPr>
          <p:cNvSpPr>
            <a:spLocks noGrp="1"/>
          </p:cNvSpPr>
          <p:nvPr/>
        </p:nvSpPr>
        <p:spPr>
          <a:xfrm>
            <a:off x="3638550" y="4362450"/>
            <a:ext cx="7524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Filled values with each column's median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9B33A1-C474-4419-AB23-CE774C3B8478}"/>
              </a:ext>
            </a:extLst>
          </p:cNvPr>
          <p:cNvSpPr>
            <a:spLocks noGrp="1"/>
          </p:cNvSpPr>
          <p:nvPr/>
        </p:nvSpPr>
        <p:spPr>
          <a:xfrm>
            <a:off x="704850" y="4972050"/>
            <a:ext cx="10458450" cy="9525"/>
          </a:xfrm>
          <a:prstGeom prst="rect">
            <a:avLst/>
          </a:prstGeom>
          <a:solidFill>
            <a:srgbClr val="D9E3EA"/>
          </a:solidFill>
          <a:ln w="0">
            <a:noFill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631847-4E4E-4464-80D7-8E41B368AC49}"/>
              </a:ext>
            </a:extLst>
          </p:cNvPr>
          <p:cNvSpPr>
            <a:spLocks noGrp="1"/>
          </p:cNvSpPr>
          <p:nvPr/>
        </p:nvSpPr>
        <p:spPr>
          <a:xfrm>
            <a:off x="704850" y="5143500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Conversion rate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CD2D87-3BED-41B1-AA88-9986AC9671B5}"/>
              </a:ext>
            </a:extLst>
          </p:cNvPr>
          <p:cNvSpPr>
            <a:spLocks noGrp="1"/>
          </p:cNvSpPr>
          <p:nvPr/>
        </p:nvSpPr>
        <p:spPr>
          <a:xfrm>
            <a:off x="3333750" y="5200650"/>
            <a:ext cx="57150" cy="323850"/>
          </a:xfrm>
          <a:prstGeom prst="rect">
            <a:avLst/>
          </a:prstGeom>
          <a:solidFill>
            <a:srgbClr val="F26B5E"/>
          </a:solidFill>
          <a:ln w="0">
            <a:noFill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B8DFDD-F624-449E-88AB-F70D169D6BB0}"/>
              </a:ext>
            </a:extLst>
          </p:cNvPr>
          <p:cNvSpPr>
            <a:spLocks noGrp="1"/>
          </p:cNvSpPr>
          <p:nvPr/>
        </p:nvSpPr>
        <p:spPr>
          <a:xfrm>
            <a:off x="3638550" y="5143500"/>
            <a:ext cx="7524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Recalculated as conversions divided by clicks</a:t>
            </a:r>
          </a:p>
        </p:txBody>
      </p:sp>
    </p:spTree>
    <p:extLst>
      <p:ext uri="{BB962C8B-B14F-4D97-AF65-F5344CB8AC3E}">
        <p14:creationId xmlns:p14="http://schemas.microsoft.com/office/powerpoint/2010/main" val="1695843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1ECEF04-B87C-474E-957B-36B296D1395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Marketing KPIs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55FCD5-103F-4F51-B180-C3482D9F7586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914400" cy="47625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15FC7-31D5-4CB8-8A2D-39BC418D3DD2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4572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125" b="1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B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966076-A576-4543-84F9-792C0663C21C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000"/>
          </a:bodyPr>
          <a:lstStyle/>
          <a:p>
            <a:pPr algn="l">
              <a:defRPr sz="750" b="0">
                <a:solidFill>
                  <a:srgbClr val="8291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91A1"/>
                </a:solidFill>
                <a:latin typeface="Aptos"/>
                <a:ea typeface="Aptos"/>
                <a:cs typeface="Aptos"/>
              </a:rPr>
              <a:t>Google Ads Campaign Performance &amp; Sales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34222-A238-45C7-BEBC-38AD23CEB974}"/>
              </a:ext>
            </a:extLst>
          </p:cNvPr>
          <p:cNvSpPr>
            <a:spLocks noGrp="1"/>
          </p:cNvSpPr>
          <p:nvPr/>
        </p:nvSpPr>
        <p:spPr>
          <a:xfrm>
            <a:off x="723900" y="1219200"/>
            <a:ext cx="1047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CTR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770F68-AA37-498F-9D5F-1254D3973D11}"/>
              </a:ext>
            </a:extLst>
          </p:cNvPr>
          <p:cNvSpPr>
            <a:spLocks noGrp="1"/>
          </p:cNvSpPr>
          <p:nvPr/>
        </p:nvSpPr>
        <p:spPr>
          <a:xfrm>
            <a:off x="2019300" y="1219200"/>
            <a:ext cx="3810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Clicks ÷ Impressions × 100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5E5A5C-273F-4E71-9963-1BB408DBF665}"/>
              </a:ext>
            </a:extLst>
          </p:cNvPr>
          <p:cNvSpPr>
            <a:spLocks noGrp="1"/>
          </p:cNvSpPr>
          <p:nvPr/>
        </p:nvSpPr>
        <p:spPr>
          <a:xfrm>
            <a:off x="6572250" y="1219200"/>
            <a:ext cx="42862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Ad engagement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FD52A9-243A-4DE1-A4D3-2485132ED4B6}"/>
              </a:ext>
            </a:extLst>
          </p:cNvPr>
          <p:cNvSpPr>
            <a:spLocks noGrp="1"/>
          </p:cNvSpPr>
          <p:nvPr/>
        </p:nvSpPr>
        <p:spPr>
          <a:xfrm>
            <a:off x="723900" y="1905000"/>
            <a:ext cx="10144125" cy="9525"/>
          </a:xfrm>
          <a:prstGeom prst="rect">
            <a:avLst/>
          </a:prstGeom>
          <a:solidFill>
            <a:srgbClr val="D9E3EA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FD7B5-CD9C-43DD-A765-C85B647CB7B8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1047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CPC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6B3D84-99D0-4146-BDEE-E5A73C5E9E48}"/>
              </a:ext>
            </a:extLst>
          </p:cNvPr>
          <p:cNvSpPr>
            <a:spLocks noGrp="1"/>
          </p:cNvSpPr>
          <p:nvPr/>
        </p:nvSpPr>
        <p:spPr>
          <a:xfrm>
            <a:off x="2019300" y="2133600"/>
            <a:ext cx="3810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Cost ÷ Clicks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8ADF54-B8FB-4960-8D92-D4D45B765C10}"/>
              </a:ext>
            </a:extLst>
          </p:cNvPr>
          <p:cNvSpPr>
            <a:spLocks noGrp="1"/>
          </p:cNvSpPr>
          <p:nvPr/>
        </p:nvSpPr>
        <p:spPr>
          <a:xfrm>
            <a:off x="6572250" y="2133600"/>
            <a:ext cx="42862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Cost of one click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1AF549-DEB3-4AF7-8356-7001E27288DB}"/>
              </a:ext>
            </a:extLst>
          </p:cNvPr>
          <p:cNvSpPr>
            <a:spLocks noGrp="1"/>
          </p:cNvSpPr>
          <p:nvPr/>
        </p:nvSpPr>
        <p:spPr>
          <a:xfrm>
            <a:off x="723900" y="2819400"/>
            <a:ext cx="10144125" cy="9525"/>
          </a:xfrm>
          <a:prstGeom prst="rect">
            <a:avLst/>
          </a:prstGeom>
          <a:solidFill>
            <a:srgbClr val="D9E3EA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147CA5-9F8E-4BF3-B69B-F049BB7753C2}"/>
              </a:ext>
            </a:extLst>
          </p:cNvPr>
          <p:cNvSpPr>
            <a:spLocks noGrp="1"/>
          </p:cNvSpPr>
          <p:nvPr/>
        </p:nvSpPr>
        <p:spPr>
          <a:xfrm>
            <a:off x="723900" y="3048000"/>
            <a:ext cx="1047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CPL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BAD599-BE3A-4746-AF91-55D12AA79A7D}"/>
              </a:ext>
            </a:extLst>
          </p:cNvPr>
          <p:cNvSpPr>
            <a:spLocks noGrp="1"/>
          </p:cNvSpPr>
          <p:nvPr/>
        </p:nvSpPr>
        <p:spPr>
          <a:xfrm>
            <a:off x="2019300" y="3048000"/>
            <a:ext cx="3810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Cost ÷ Leads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4C31AB-922A-4E9E-BE11-F5A294FE2895}"/>
              </a:ext>
            </a:extLst>
          </p:cNvPr>
          <p:cNvSpPr>
            <a:spLocks noGrp="1"/>
          </p:cNvSpPr>
          <p:nvPr/>
        </p:nvSpPr>
        <p:spPr>
          <a:xfrm>
            <a:off x="6572250" y="3048000"/>
            <a:ext cx="42862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Cost of one lead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A03176-36E0-4C1D-A794-FF7F3ECDEAFD}"/>
              </a:ext>
            </a:extLst>
          </p:cNvPr>
          <p:cNvSpPr>
            <a:spLocks noGrp="1"/>
          </p:cNvSpPr>
          <p:nvPr/>
        </p:nvSpPr>
        <p:spPr>
          <a:xfrm>
            <a:off x="723900" y="3733800"/>
            <a:ext cx="10144125" cy="9525"/>
          </a:xfrm>
          <a:prstGeom prst="rect">
            <a:avLst/>
          </a:prstGeom>
          <a:solidFill>
            <a:srgbClr val="D9E3EA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DBE58B-F41D-49F4-A240-1584D15EA6E2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1047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CPA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554727-64E0-4083-B2DE-8818339AEA05}"/>
              </a:ext>
            </a:extLst>
          </p:cNvPr>
          <p:cNvSpPr>
            <a:spLocks noGrp="1"/>
          </p:cNvSpPr>
          <p:nvPr/>
        </p:nvSpPr>
        <p:spPr>
          <a:xfrm>
            <a:off x="2019300" y="3962400"/>
            <a:ext cx="3810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Cost ÷ Conversions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D8B769-E948-4D49-B8E1-332B35F5FDD2}"/>
              </a:ext>
            </a:extLst>
          </p:cNvPr>
          <p:cNvSpPr>
            <a:spLocks noGrp="1"/>
          </p:cNvSpPr>
          <p:nvPr/>
        </p:nvSpPr>
        <p:spPr>
          <a:xfrm>
            <a:off x="6572250" y="3962400"/>
            <a:ext cx="42862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Cost of one conversion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FFB66C-F2EF-457B-B694-8551EC546525}"/>
              </a:ext>
            </a:extLst>
          </p:cNvPr>
          <p:cNvSpPr>
            <a:spLocks noGrp="1"/>
          </p:cNvSpPr>
          <p:nvPr/>
        </p:nvSpPr>
        <p:spPr>
          <a:xfrm>
            <a:off x="723900" y="4648200"/>
            <a:ext cx="10144125" cy="9525"/>
          </a:xfrm>
          <a:prstGeom prst="rect">
            <a:avLst/>
          </a:prstGeom>
          <a:solidFill>
            <a:srgbClr val="D9E3EA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A1CCAB-3C7C-4B68-AF82-A304651F9D2D}"/>
              </a:ext>
            </a:extLst>
          </p:cNvPr>
          <p:cNvSpPr>
            <a:spLocks noGrp="1"/>
          </p:cNvSpPr>
          <p:nvPr/>
        </p:nvSpPr>
        <p:spPr>
          <a:xfrm>
            <a:off x="723900" y="4876800"/>
            <a:ext cx="1047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F26B5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6B5E"/>
                </a:solidFill>
                <a:latin typeface="Aptos"/>
                <a:ea typeface="Aptos"/>
                <a:cs typeface="Aptos"/>
              </a:rPr>
              <a:t>ROAS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19B9FE-9FA6-4483-A4EB-F0164A60A5A2}"/>
              </a:ext>
            </a:extLst>
          </p:cNvPr>
          <p:cNvSpPr>
            <a:spLocks noGrp="1"/>
          </p:cNvSpPr>
          <p:nvPr/>
        </p:nvSpPr>
        <p:spPr>
          <a:xfrm>
            <a:off x="2019300" y="4876800"/>
            <a:ext cx="3810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Sales ÷ Cost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74928B-F88C-4D85-A0F1-EBFC74F3BAC3}"/>
              </a:ext>
            </a:extLst>
          </p:cNvPr>
          <p:cNvSpPr>
            <a:spLocks noGrp="1"/>
          </p:cNvSpPr>
          <p:nvPr/>
        </p:nvSpPr>
        <p:spPr>
          <a:xfrm>
            <a:off x="6572250" y="4876800"/>
            <a:ext cx="42862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Sales per advertising dollar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77E8A3-6B16-42B5-BF4B-7351DCFA0D0F}"/>
              </a:ext>
            </a:extLst>
          </p:cNvPr>
          <p:cNvSpPr>
            <a:spLocks noGrp="1"/>
          </p:cNvSpPr>
          <p:nvPr/>
        </p:nvSpPr>
        <p:spPr>
          <a:xfrm>
            <a:off x="704850" y="596265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Feature engineering converted raw campaign activity into comparable measures of reach, cost and return.</a:t>
            </a:r>
          </a:p>
        </p:txBody>
      </p:sp>
    </p:spTree>
    <p:extLst>
      <p:ext uri="{BB962C8B-B14F-4D97-AF65-F5344CB8AC3E}">
        <p14:creationId xmlns:p14="http://schemas.microsoft.com/office/powerpoint/2010/main" val="1714091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E67577D-7018-4712-92E8-F5E50C44A3D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Campaign performance summary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073BD4-B526-4E37-9131-61A7B0016148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914400" cy="47625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41B497-389A-49A2-B998-95A1F128083A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4572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125" b="1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B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3BC1AD-0625-4F18-9021-E039244643CB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000"/>
          </a:bodyPr>
          <a:lstStyle/>
          <a:p>
            <a:pPr algn="l">
              <a:defRPr sz="750" b="0">
                <a:solidFill>
                  <a:srgbClr val="8291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91A1"/>
                </a:solidFill>
                <a:latin typeface="Aptos"/>
                <a:ea typeface="Aptos"/>
                <a:cs typeface="Aptos"/>
              </a:rPr>
              <a:t>Google Ads Campaign Performance &amp; Sales Analytics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6E16D63-559B-4C23-85CE-1760AA27D2A0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2524125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9E3EA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1C9F2B-EAA1-4CC0-85E9-86EC92D99270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2524125" cy="76200"/>
          </a:xfrm>
          <a:prstGeom prst="rect">
            <a:avLst/>
          </a:prstGeom>
          <a:solidFill>
            <a:srgbClr val="1E5B8E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E3CF3-EF16-46BC-A1A7-C938F3324593}"/>
              </a:ext>
            </a:extLst>
          </p:cNvPr>
          <p:cNvSpPr>
            <a:spLocks noGrp="1"/>
          </p:cNvSpPr>
          <p:nvPr/>
        </p:nvSpPr>
        <p:spPr>
          <a:xfrm>
            <a:off x="800100" y="1752600"/>
            <a:ext cx="225742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11.76M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95BE4C-0E51-48A3-90AD-5582273D1D13}"/>
              </a:ext>
            </a:extLst>
          </p:cNvPr>
          <p:cNvSpPr>
            <a:spLocks noGrp="1"/>
          </p:cNvSpPr>
          <p:nvPr/>
        </p:nvSpPr>
        <p:spPr>
          <a:xfrm>
            <a:off x="800100" y="2381250"/>
            <a:ext cx="22574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Impressions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598DDE2-8902-46EA-B780-2DF54C9B55BD}"/>
              </a:ext>
            </a:extLst>
          </p:cNvPr>
          <p:cNvSpPr>
            <a:spLocks noGrp="1"/>
          </p:cNvSpPr>
          <p:nvPr/>
        </p:nvSpPr>
        <p:spPr>
          <a:xfrm>
            <a:off x="3381375" y="1428750"/>
            <a:ext cx="2524125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9E3EA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82E211-EDCB-4FA8-AF18-1ED98386F2C2}"/>
              </a:ext>
            </a:extLst>
          </p:cNvPr>
          <p:cNvSpPr>
            <a:spLocks noGrp="1"/>
          </p:cNvSpPr>
          <p:nvPr/>
        </p:nvSpPr>
        <p:spPr>
          <a:xfrm>
            <a:off x="3381375" y="1428750"/>
            <a:ext cx="2524125" cy="76200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D73EF2-C7AE-453A-B39C-ECB28F57F99E}"/>
              </a:ext>
            </a:extLst>
          </p:cNvPr>
          <p:cNvSpPr>
            <a:spLocks noGrp="1"/>
          </p:cNvSpPr>
          <p:nvPr/>
        </p:nvSpPr>
        <p:spPr>
          <a:xfrm>
            <a:off x="3514725" y="1752600"/>
            <a:ext cx="225742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361,293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6E7B0E-5CEA-4DA2-A5E1-8E4BA4D5719C}"/>
              </a:ext>
            </a:extLst>
          </p:cNvPr>
          <p:cNvSpPr>
            <a:spLocks noGrp="1"/>
          </p:cNvSpPr>
          <p:nvPr/>
        </p:nvSpPr>
        <p:spPr>
          <a:xfrm>
            <a:off x="3514725" y="2381250"/>
            <a:ext cx="22574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Clicks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5DDC6BF-2212-41C7-B6A1-01DA26AEE33C}"/>
              </a:ext>
            </a:extLst>
          </p:cNvPr>
          <p:cNvSpPr>
            <a:spLocks noGrp="1"/>
          </p:cNvSpPr>
          <p:nvPr/>
        </p:nvSpPr>
        <p:spPr>
          <a:xfrm>
            <a:off x="6096000" y="1428750"/>
            <a:ext cx="2524125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9E3EA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467195-BFF3-40F2-9967-01F382855BBF}"/>
              </a:ext>
            </a:extLst>
          </p:cNvPr>
          <p:cNvSpPr>
            <a:spLocks noGrp="1"/>
          </p:cNvSpPr>
          <p:nvPr/>
        </p:nvSpPr>
        <p:spPr>
          <a:xfrm>
            <a:off x="6096000" y="1428750"/>
            <a:ext cx="2524125" cy="76200"/>
          </a:xfrm>
          <a:prstGeom prst="rect">
            <a:avLst/>
          </a:prstGeom>
          <a:solidFill>
            <a:srgbClr val="F26B5E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E6A474-00D7-48FC-9636-0AEA957D6357}"/>
              </a:ext>
            </a:extLst>
          </p:cNvPr>
          <p:cNvSpPr>
            <a:spLocks noGrp="1"/>
          </p:cNvSpPr>
          <p:nvPr/>
        </p:nvSpPr>
        <p:spPr>
          <a:xfrm>
            <a:off x="6229350" y="1752600"/>
            <a:ext cx="225742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16,985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D17B95-1D99-4FC0-A940-D45C0DE1C725}"/>
              </a:ext>
            </a:extLst>
          </p:cNvPr>
          <p:cNvSpPr>
            <a:spLocks noGrp="1"/>
          </p:cNvSpPr>
          <p:nvPr/>
        </p:nvSpPr>
        <p:spPr>
          <a:xfrm>
            <a:off x="6229350" y="2381250"/>
            <a:ext cx="22574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Conversions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BA917CE-8E25-4B61-8D66-FA288C9AC0FA}"/>
              </a:ext>
            </a:extLst>
          </p:cNvPr>
          <p:cNvSpPr>
            <a:spLocks noGrp="1"/>
          </p:cNvSpPr>
          <p:nvPr/>
        </p:nvSpPr>
        <p:spPr>
          <a:xfrm>
            <a:off x="8810625" y="1428750"/>
            <a:ext cx="2524125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9E3EA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E25F6B-F66C-4FA3-8AFD-8F0CDCECE1E0}"/>
              </a:ext>
            </a:extLst>
          </p:cNvPr>
          <p:cNvSpPr>
            <a:spLocks noGrp="1"/>
          </p:cNvSpPr>
          <p:nvPr/>
        </p:nvSpPr>
        <p:spPr>
          <a:xfrm>
            <a:off x="8810625" y="1428750"/>
            <a:ext cx="2524125" cy="76200"/>
          </a:xfrm>
          <a:prstGeom prst="rect">
            <a:avLst/>
          </a:prstGeom>
          <a:solidFill>
            <a:srgbClr val="E2A93B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D71515-EDFE-499A-B9AD-CE2E3F07C085}"/>
              </a:ext>
            </a:extLst>
          </p:cNvPr>
          <p:cNvSpPr>
            <a:spLocks noGrp="1"/>
          </p:cNvSpPr>
          <p:nvPr/>
        </p:nvSpPr>
        <p:spPr>
          <a:xfrm>
            <a:off x="8943975" y="1752600"/>
            <a:ext cx="225742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$559K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68944A-DBF6-4A15-8EC4-D867F53858FE}"/>
              </a:ext>
            </a:extLst>
          </p:cNvPr>
          <p:cNvSpPr>
            <a:spLocks noGrp="1"/>
          </p:cNvSpPr>
          <p:nvPr/>
        </p:nvSpPr>
        <p:spPr>
          <a:xfrm>
            <a:off x="8943975" y="2381250"/>
            <a:ext cx="22574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Ad cost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A22A2CF-4475-44C6-A76C-6473AB2652B3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32385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9E3EA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6BB46D-1AE4-4C3A-A7CD-7C35D446A132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3238500" cy="76200"/>
          </a:xfrm>
          <a:prstGeom prst="rect">
            <a:avLst/>
          </a:prstGeom>
          <a:solidFill>
            <a:srgbClr val="2D9D78"/>
          </a:solidFill>
          <a:ln w="0">
            <a:noFill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48173C-0DF0-4F76-A9DE-F58818CDB868}"/>
              </a:ext>
            </a:extLst>
          </p:cNvPr>
          <p:cNvSpPr>
            <a:spLocks noGrp="1"/>
          </p:cNvSpPr>
          <p:nvPr/>
        </p:nvSpPr>
        <p:spPr>
          <a:xfrm>
            <a:off x="800100" y="4038600"/>
            <a:ext cx="29718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$3.90M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A82279-326A-48A9-9E1E-463360895DC8}"/>
              </a:ext>
            </a:extLst>
          </p:cNvPr>
          <p:cNvSpPr>
            <a:spLocks noGrp="1"/>
          </p:cNvSpPr>
          <p:nvPr/>
        </p:nvSpPr>
        <p:spPr>
          <a:xfrm>
            <a:off x="800100" y="4667250"/>
            <a:ext cx="29718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Sales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D25C856-9C75-448D-AC61-21F63F470C12}"/>
              </a:ext>
            </a:extLst>
          </p:cNvPr>
          <p:cNvSpPr>
            <a:spLocks noGrp="1"/>
          </p:cNvSpPr>
          <p:nvPr/>
        </p:nvSpPr>
        <p:spPr>
          <a:xfrm>
            <a:off x="4248150" y="3714750"/>
            <a:ext cx="32385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9E3EA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916B01-E937-48E9-8DF1-893F134B5501}"/>
              </a:ext>
            </a:extLst>
          </p:cNvPr>
          <p:cNvSpPr>
            <a:spLocks noGrp="1"/>
          </p:cNvSpPr>
          <p:nvPr/>
        </p:nvSpPr>
        <p:spPr>
          <a:xfrm>
            <a:off x="4248150" y="3714750"/>
            <a:ext cx="3238500" cy="76200"/>
          </a:xfrm>
          <a:prstGeom prst="rect">
            <a:avLst/>
          </a:prstGeom>
          <a:solidFill>
            <a:srgbClr val="1E5B8E"/>
          </a:solidFill>
          <a:ln w="0">
            <a:noFill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E53474-7764-4C85-A473-9CA737C3C400}"/>
              </a:ext>
            </a:extLst>
          </p:cNvPr>
          <p:cNvSpPr>
            <a:spLocks noGrp="1"/>
          </p:cNvSpPr>
          <p:nvPr/>
        </p:nvSpPr>
        <p:spPr>
          <a:xfrm>
            <a:off x="4381500" y="4038600"/>
            <a:ext cx="29718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3.07%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A3C0D3E-0F30-4EC7-871C-8AAA1778FC27}"/>
              </a:ext>
            </a:extLst>
          </p:cNvPr>
          <p:cNvSpPr>
            <a:spLocks noGrp="1"/>
          </p:cNvSpPr>
          <p:nvPr/>
        </p:nvSpPr>
        <p:spPr>
          <a:xfrm>
            <a:off x="4381500" y="4667250"/>
            <a:ext cx="29718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Overall CTR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20012A5-5704-46EF-9AE0-8E1282382599}"/>
              </a:ext>
            </a:extLst>
          </p:cNvPr>
          <p:cNvSpPr>
            <a:spLocks noGrp="1"/>
          </p:cNvSpPr>
          <p:nvPr/>
        </p:nvSpPr>
        <p:spPr>
          <a:xfrm>
            <a:off x="7829550" y="3714750"/>
            <a:ext cx="32385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9E3EA"/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C87D7D-5F56-470D-BF0C-7B1718F43FE4}"/>
              </a:ext>
            </a:extLst>
          </p:cNvPr>
          <p:cNvSpPr>
            <a:spLocks noGrp="1"/>
          </p:cNvSpPr>
          <p:nvPr/>
        </p:nvSpPr>
        <p:spPr>
          <a:xfrm>
            <a:off x="7829550" y="3714750"/>
            <a:ext cx="3238500" cy="76200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FDFC0D-CAE0-409C-BC4C-F28A2058EFB0}"/>
              </a:ext>
            </a:extLst>
          </p:cNvPr>
          <p:cNvSpPr>
            <a:spLocks noGrp="1"/>
          </p:cNvSpPr>
          <p:nvPr/>
        </p:nvSpPr>
        <p:spPr>
          <a:xfrm>
            <a:off x="7962900" y="4038600"/>
            <a:ext cx="29718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6.97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F82C432-A18A-43B8-8A4B-881731769F18}"/>
              </a:ext>
            </a:extLst>
          </p:cNvPr>
          <p:cNvSpPr>
            <a:spLocks noGrp="1"/>
          </p:cNvSpPr>
          <p:nvPr/>
        </p:nvSpPr>
        <p:spPr>
          <a:xfrm>
            <a:off x="7962900" y="4667250"/>
            <a:ext cx="29718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Overall ROAS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3772AB-1B54-4DB1-A405-1A6D69D43DD7}"/>
              </a:ext>
            </a:extLst>
          </p:cNvPr>
          <p:cNvSpPr>
            <a:spLocks noGrp="1"/>
          </p:cNvSpPr>
          <p:nvPr/>
        </p:nvSpPr>
        <p:spPr>
          <a:xfrm>
            <a:off x="666750" y="577215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536"/>
                </a:solidFill>
                <a:latin typeface="Aptos"/>
                <a:ea typeface="Aptos"/>
                <a:cs typeface="Aptos"/>
              </a:rPr>
              <a:t>Each $1 of advertising spend generated approximately $6.97 in sales.</a:t>
            </a:r>
          </a:p>
        </p:txBody>
      </p:sp>
    </p:spTree>
    <p:extLst>
      <p:ext uri="{BB962C8B-B14F-4D97-AF65-F5344CB8AC3E}">
        <p14:creationId xmlns:p14="http://schemas.microsoft.com/office/powerpoint/2010/main" val="1879670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07E4C77-B601-48E4-AF3E-3E0A3C5C1AC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Device performance was closely matched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6CA20B-0FBC-413C-975E-6B99602F7760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914400" cy="47625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5A29CB-E9EE-4B3C-A349-C113034790B4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4572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125" b="1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B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1B6D90-FC66-4686-B337-7BBB28BC64BF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000"/>
          </a:bodyPr>
          <a:lstStyle/>
          <a:p>
            <a:pPr algn="l">
              <a:defRPr sz="750" b="0">
                <a:solidFill>
                  <a:srgbClr val="8291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91A1"/>
                </a:solidFill>
                <a:latin typeface="Aptos"/>
                <a:ea typeface="Aptos"/>
                <a:cs typeface="Aptos"/>
              </a:rPr>
              <a:t>Google Ads Campaign Performance &amp; Sales Analytics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="666750" y="1381125"/>
          <a:ext cx="6858000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20B35579-4D32-43F8-B4D2-455742F357BA}"/>
              </a:ext>
            </a:extLst>
          </p:cNvPr>
          <p:cNvSpPr>
            <a:spLocks noGrp="1"/>
          </p:cNvSpPr>
          <p:nvPr/>
        </p:nvSpPr>
        <p:spPr>
          <a:xfrm>
            <a:off x="8096250" y="165735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Desktop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C49F83-3F03-47CD-8EFA-665B6B881762}"/>
              </a:ext>
            </a:extLst>
          </p:cNvPr>
          <p:cNvSpPr>
            <a:spLocks noGrp="1"/>
          </p:cNvSpPr>
          <p:nvPr/>
        </p:nvSpPr>
        <p:spPr>
          <a:xfrm>
            <a:off x="8096250" y="2047875"/>
            <a:ext cx="24765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Highest total sales</a:t>
            </a:r>
          </a:p>
          <a:p>
            <a:pPr algn="l"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$1.332M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BDE5BC-1524-4440-BCB4-D002E4786DC6}"/>
              </a:ext>
            </a:extLst>
          </p:cNvPr>
          <p:cNvSpPr>
            <a:spLocks noGrp="1"/>
          </p:cNvSpPr>
          <p:nvPr/>
        </p:nvSpPr>
        <p:spPr>
          <a:xfrm>
            <a:off x="8096250" y="3095625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ROAS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F9634F-1678-417D-838A-7C48638B55F4}"/>
              </a:ext>
            </a:extLst>
          </p:cNvPr>
          <p:cNvSpPr>
            <a:spLocks noGrp="1"/>
          </p:cNvSpPr>
          <p:nvPr/>
        </p:nvSpPr>
        <p:spPr>
          <a:xfrm>
            <a:off x="8096250" y="3486150"/>
            <a:ext cx="24765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Desktop 6.99</a:t>
            </a:r>
          </a:p>
          <a:p>
            <a:pPr algn="l"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Tablet 6.99</a:t>
            </a:r>
          </a:p>
          <a:p>
            <a:pPr algn="l"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Mobile 6.92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27723B-9EBA-4CB6-9BBF-03F53BC9DF2D}"/>
              </a:ext>
            </a:extLst>
          </p:cNvPr>
          <p:cNvSpPr>
            <a:spLocks noGrp="1"/>
          </p:cNvSpPr>
          <p:nvPr/>
        </p:nvSpPr>
        <p:spPr>
          <a:xfrm>
            <a:off x="8096250" y="4857750"/>
            <a:ext cx="28575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536"/>
                </a:solidFill>
                <a:latin typeface="Aptos"/>
                <a:ea typeface="Aptos"/>
                <a:cs typeface="Aptos"/>
              </a:rPr>
              <a:t>Average sale values differed by less than $4 across devices.</a:t>
            </a:r>
          </a:p>
        </p:txBody>
      </p:sp>
    </p:spTree>
    <p:extLst>
      <p:ext uri="{BB962C8B-B14F-4D97-AF65-F5344CB8AC3E}">
        <p14:creationId xmlns:p14="http://schemas.microsoft.com/office/powerpoint/2010/main" val="774537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2FFEDA4-10A1-4003-BC86-010604E89EC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Keyword ROAS ranged from 6.83 to 7.09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971842-CE31-4DB3-BD4E-175BDE18FAE5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914400" cy="47625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2445DC-510D-4A26-B0F9-3BD69261F20A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4572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125" b="1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B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A16314-E2EF-4430-BFB0-5A4110FADEB4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000"/>
          </a:bodyPr>
          <a:lstStyle/>
          <a:p>
            <a:pPr algn="l">
              <a:defRPr sz="750" b="0">
                <a:solidFill>
                  <a:srgbClr val="8291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91A1"/>
                </a:solidFill>
                <a:latin typeface="Aptos"/>
                <a:ea typeface="Aptos"/>
                <a:cs typeface="Aptos"/>
              </a:rPr>
              <a:t>Google Ads Campaign Performance &amp; Sales Analytics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762000" y="1333500"/>
          <a:ext cx="7810500" cy="4524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BC322BA-F3D4-4020-A81B-0A997CF4C20F}"/>
              </a:ext>
            </a:extLst>
          </p:cNvPr>
          <p:cNvSpPr>
            <a:spLocks noGrp="1"/>
          </p:cNvSpPr>
          <p:nvPr/>
        </p:nvSpPr>
        <p:spPr>
          <a:xfrm>
            <a:off x="8991600" y="1762125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Top keyword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D810B2-94C4-4C4C-A7A6-26DC84E18266}"/>
              </a:ext>
            </a:extLst>
          </p:cNvPr>
          <p:cNvSpPr>
            <a:spLocks noGrp="1"/>
          </p:cNvSpPr>
          <p:nvPr/>
        </p:nvSpPr>
        <p:spPr>
          <a:xfrm>
            <a:off x="8991600" y="2143125"/>
            <a:ext cx="2190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263"/>
          </a:bodyPr>
          <a:lstStyle/>
          <a:p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Data analytics course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B1C071-6507-4D9E-BD38-84F937965F37}"/>
              </a:ext>
            </a:extLst>
          </p:cNvPr>
          <p:cNvSpPr>
            <a:spLocks noGrp="1"/>
          </p:cNvSpPr>
          <p:nvPr/>
        </p:nvSpPr>
        <p:spPr>
          <a:xfrm>
            <a:off x="8991600" y="2781300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ROAS 7.09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FE8302-80B1-45A4-AB76-27AFC5897E4A}"/>
              </a:ext>
            </a:extLst>
          </p:cNvPr>
          <p:cNvSpPr>
            <a:spLocks noGrp="1"/>
          </p:cNvSpPr>
          <p:nvPr/>
        </p:nvSpPr>
        <p:spPr>
          <a:xfrm>
            <a:off x="8991600" y="3905250"/>
            <a:ext cx="2286000" cy="914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Difference between the highest and lowest keyword ROAS: 0.26</a:t>
            </a:r>
          </a:p>
        </p:txBody>
      </p:sp>
    </p:spTree>
    <p:extLst>
      <p:ext uri="{BB962C8B-B14F-4D97-AF65-F5344CB8AC3E}">
        <p14:creationId xmlns:p14="http://schemas.microsoft.com/office/powerpoint/2010/main" val="1830440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B5B66BD-72A2-47AC-B39C-6A5645CBAA7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Daily sales fluctuated across November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09BA0-E277-47B6-9E2A-173700AE086F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914400" cy="47625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556305-3994-4B0D-ABC1-7233C49E4981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4572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125" b="1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B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AFDE52-EEA9-4929-A21D-F83D54D06442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000"/>
          </a:bodyPr>
          <a:lstStyle/>
          <a:p>
            <a:pPr algn="l">
              <a:defRPr sz="750" b="0">
                <a:solidFill>
                  <a:srgbClr val="8291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91A1"/>
                </a:solidFill>
                <a:latin typeface="Aptos"/>
                <a:ea typeface="Aptos"/>
                <a:cs typeface="Aptos"/>
              </a:rPr>
              <a:t>Google Ads Campaign Performance &amp; Sales Analytics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="666750" y="1476375"/>
          <a:ext cx="819150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FB193EC-DAEC-45A2-AF98-2890398EA6F0}"/>
              </a:ext>
            </a:extLst>
          </p:cNvPr>
          <p:cNvSpPr>
            <a:spLocks noGrp="1"/>
          </p:cNvSpPr>
          <p:nvPr/>
        </p:nvSpPr>
        <p:spPr>
          <a:xfrm>
            <a:off x="9277350" y="1809750"/>
            <a:ext cx="2000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2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$174,719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F319B8-BD7A-4CB0-88D5-069659D20F74}"/>
              </a:ext>
            </a:extLst>
          </p:cNvPr>
          <p:cNvSpPr>
            <a:spLocks noGrp="1"/>
          </p:cNvSpPr>
          <p:nvPr/>
        </p:nvSpPr>
        <p:spPr>
          <a:xfrm>
            <a:off x="9277350" y="2305050"/>
            <a:ext cx="2000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Highest sales</a:t>
            </a:r>
          </a:p>
          <a:p>
            <a:pPr algn="ctr">
              <a:defRPr sz="12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14 November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732DDB-8B66-457C-A1C9-071329403284}"/>
              </a:ext>
            </a:extLst>
          </p:cNvPr>
          <p:cNvSpPr>
            <a:spLocks noGrp="1"/>
          </p:cNvSpPr>
          <p:nvPr/>
        </p:nvSpPr>
        <p:spPr>
          <a:xfrm>
            <a:off x="9277350" y="3714750"/>
            <a:ext cx="2000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250" b="1">
                <a:solidFill>
                  <a:srgbClr val="F26B5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6B5E"/>
                </a:solidFill>
                <a:latin typeface="Aptos"/>
                <a:ea typeface="Aptos"/>
                <a:cs typeface="Aptos"/>
              </a:rPr>
              <a:t>$101,935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09A324-A530-4488-8CE3-626E5C95C67E}"/>
              </a:ext>
            </a:extLst>
          </p:cNvPr>
          <p:cNvSpPr>
            <a:spLocks noGrp="1"/>
          </p:cNvSpPr>
          <p:nvPr/>
        </p:nvSpPr>
        <p:spPr>
          <a:xfrm>
            <a:off x="9277350" y="4210050"/>
            <a:ext cx="2000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Lowest sales</a:t>
            </a:r>
          </a:p>
          <a:p>
            <a:pPr algn="ctr">
              <a:defRPr sz="12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17 November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5BFAD9-81A4-4DC6-8BB6-D276E2C1EA21}"/>
              </a:ext>
            </a:extLst>
          </p:cNvPr>
          <p:cNvSpPr>
            <a:spLocks noGrp="1"/>
          </p:cNvSpPr>
          <p:nvPr/>
        </p:nvSpPr>
        <p:spPr>
          <a:xfrm>
            <a:off x="8915400" y="5381625"/>
            <a:ext cx="27241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89"/>
          </a:bodyPr>
          <a:lstStyle/>
          <a:p>
            <a:pPr algn="ctr">
              <a:defRPr sz="1350" b="1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536"/>
                </a:solidFill>
                <a:latin typeface="Aptos"/>
                <a:ea typeface="Aptos"/>
                <a:cs typeface="Aptos"/>
              </a:rPr>
              <a:t>No consistent upward or downward trend</a:t>
            </a:r>
          </a:p>
        </p:txBody>
      </p:sp>
    </p:spTree>
    <p:extLst>
      <p:ext uri="{BB962C8B-B14F-4D97-AF65-F5344CB8AC3E}">
        <p14:creationId xmlns:p14="http://schemas.microsoft.com/office/powerpoint/2010/main" val="358202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00570A9-BFCA-4D9B-88DD-C112147AF16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Higher volume did not predict better outcomes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BA4A63-6AA3-4795-8711-2DDBFF445813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914400" cy="47625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0AFCFF-DDF2-44A1-8786-D2F289FDB616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4572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125" b="1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B7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BDBA72-5ED4-434A-96EC-24DDAD00AB56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000"/>
          </a:bodyPr>
          <a:lstStyle/>
          <a:p>
            <a:pPr algn="l">
              <a:defRPr sz="750" b="0">
                <a:solidFill>
                  <a:srgbClr val="8291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91A1"/>
                </a:solidFill>
                <a:latin typeface="Aptos"/>
                <a:ea typeface="Aptos"/>
                <a:cs typeface="Aptos"/>
              </a:rPr>
              <a:t>Google Ads Campaign Performance &amp; Sales Analytics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7770" y="1352550"/>
            <a:ext cx="6134911" cy="4095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5D84BA8-1B1E-4EC3-B20C-B0A864CB23CE}"/>
              </a:ext>
            </a:extLst>
          </p:cNvPr>
          <p:cNvSpPr>
            <a:spLocks noGrp="1"/>
          </p:cNvSpPr>
          <p:nvPr/>
        </p:nvSpPr>
        <p:spPr>
          <a:xfrm>
            <a:off x="7524750" y="15240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Cost vs sales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A14271-DE6C-4914-AE7B-741D8CA9B062}"/>
              </a:ext>
            </a:extLst>
          </p:cNvPr>
          <p:cNvSpPr>
            <a:spLocks noGrp="1"/>
          </p:cNvSpPr>
          <p:nvPr/>
        </p:nvSpPr>
        <p:spPr>
          <a:xfrm>
            <a:off x="7524750" y="1924050"/>
            <a:ext cx="1809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150" b="1">
                <a:solidFill>
                  <a:srgbClr val="F26B5E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26B5E"/>
                </a:solidFill>
                <a:latin typeface="Aptos"/>
                <a:ea typeface="Aptos"/>
                <a:cs typeface="Aptos"/>
              </a:rPr>
              <a:t>0.01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804006-A5F5-4157-A6A2-63534077A668}"/>
              </a:ext>
            </a:extLst>
          </p:cNvPr>
          <p:cNvSpPr>
            <a:spLocks noGrp="1"/>
          </p:cNvSpPr>
          <p:nvPr/>
        </p:nvSpPr>
        <p:spPr>
          <a:xfrm>
            <a:off x="7524750" y="250507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correlation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04664A-306F-4BF4-A3C4-CF56B36E65CB}"/>
              </a:ext>
            </a:extLst>
          </p:cNvPr>
          <p:cNvSpPr>
            <a:spLocks noGrp="1"/>
          </p:cNvSpPr>
          <p:nvPr/>
        </p:nvSpPr>
        <p:spPr>
          <a:xfrm>
            <a:off x="7524750" y="321945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Clicks vs conversions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2260F6-F1D5-476F-820B-2801B2DE3E0D}"/>
              </a:ext>
            </a:extLst>
          </p:cNvPr>
          <p:cNvSpPr>
            <a:spLocks noGrp="1"/>
          </p:cNvSpPr>
          <p:nvPr/>
        </p:nvSpPr>
        <p:spPr>
          <a:xfrm>
            <a:off x="7524750" y="3619500"/>
            <a:ext cx="1809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150" b="1">
                <a:solidFill>
                  <a:srgbClr val="F26B5E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26B5E"/>
                </a:solidFill>
                <a:latin typeface="Aptos"/>
                <a:ea typeface="Aptos"/>
                <a:cs typeface="Aptos"/>
              </a:rPr>
              <a:t>0.01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B26D62-CA03-445B-8504-D9EABE1783E3}"/>
              </a:ext>
            </a:extLst>
          </p:cNvPr>
          <p:cNvSpPr>
            <a:spLocks noGrp="1"/>
          </p:cNvSpPr>
          <p:nvPr/>
        </p:nvSpPr>
        <p:spPr>
          <a:xfrm>
            <a:off x="7524750" y="42005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correlation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3EC650-DEEE-4441-B117-9DA0FC7E72B9}"/>
              </a:ext>
            </a:extLst>
          </p:cNvPr>
          <p:cNvSpPr>
            <a:spLocks noGrp="1"/>
          </p:cNvSpPr>
          <p:nvPr/>
        </p:nvSpPr>
        <p:spPr>
          <a:xfrm>
            <a:off x="7524750" y="4857750"/>
            <a:ext cx="3571875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Both relationships were almost flat. Higher spending or more clicks did not consistently produce higher results in this dataset.</a:t>
            </a:r>
          </a:p>
        </p:txBody>
      </p:sp>
    </p:spTree>
    <p:extLst>
      <p:ext uri="{BB962C8B-B14F-4D97-AF65-F5344CB8AC3E}">
        <p14:creationId xmlns:p14="http://schemas.microsoft.com/office/powerpoint/2010/main" val="2118209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7C5445B-2BA5-4449-9E32-424F2B2C059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Conclusions and recommendations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33EFD0-080A-4AC3-B7AA-583F6FC29B47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914400" cy="47625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26DA44-D365-42C7-A2AB-8D498B81648E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4572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125" b="1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B7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B67176-B72D-4553-AC89-A8E8619B3D04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000"/>
          </a:bodyPr>
          <a:lstStyle/>
          <a:p>
            <a:pPr algn="l">
              <a:defRPr sz="750" b="0">
                <a:solidFill>
                  <a:srgbClr val="8291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91A1"/>
                </a:solidFill>
                <a:latin typeface="Aptos"/>
                <a:ea typeface="Aptos"/>
                <a:cs typeface="Aptos"/>
              </a:rPr>
              <a:t>Google Ads Campaign Performance &amp; Sales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8DFBD3-6446-4B25-B45F-4CD20E90A83B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4476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6"/>
          </a:bodyPr>
          <a:lstStyle/>
          <a:p>
            <a:pPr algn="l">
              <a:defRPr sz="14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What the analysis shows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A3809-223F-4693-8AFD-8A5164779008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4810125" cy="3276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• The campaign produced a strong overall ROAS of 6.97.</a:t>
            </a:r>
          </a:p>
          <a:p>
            <a:endParaRPr sz="1500" b="0">
              <a:solidFill>
                <a:srgbClr val="152536"/>
              </a:solidFill>
              <a:latin typeface="Aptos"/>
              <a:ea typeface="Aptos"/>
              <a:cs typeface="Aptos"/>
            </a:endParaRPr>
          </a:p>
          <a:p>
            <a:pPr algn="l">
              <a:defRPr sz="150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• Device performance was broadly similar after accounting for record counts.</a:t>
            </a:r>
          </a:p>
          <a:p>
            <a:endParaRPr sz="1500" b="0">
              <a:solidFill>
                <a:srgbClr val="152536"/>
              </a:solidFill>
              <a:latin typeface="Aptos"/>
              <a:ea typeface="Aptos"/>
              <a:cs typeface="Aptos"/>
            </a:endParaRPr>
          </a:p>
          <a:p>
            <a:pPr algn="l">
              <a:defRPr sz="150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• Keyword returns differed only slightly.</a:t>
            </a:r>
          </a:p>
          <a:p>
            <a:endParaRPr sz="1500" b="0">
              <a:solidFill>
                <a:srgbClr val="152536"/>
              </a:solidFill>
              <a:latin typeface="Aptos"/>
              <a:ea typeface="Aptos"/>
              <a:cs typeface="Aptos"/>
            </a:endParaRPr>
          </a:p>
          <a:p>
            <a:pPr algn="l">
              <a:defRPr sz="150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• Cost and click volume alone did not explain sales or conversions.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17B15C-03CF-4ABB-B0CE-315C0F7A4DCE}"/>
              </a:ext>
            </a:extLst>
          </p:cNvPr>
          <p:cNvSpPr>
            <a:spLocks noGrp="1"/>
          </p:cNvSpPr>
          <p:nvPr/>
        </p:nvSpPr>
        <p:spPr>
          <a:xfrm>
            <a:off x="6000750" y="1285875"/>
            <a:ext cx="19050" cy="4095750"/>
          </a:xfrm>
          <a:prstGeom prst="rect">
            <a:avLst/>
          </a:prstGeom>
          <a:solidFill>
            <a:srgbClr val="D9E3EA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F628-F2A0-4708-8819-083B4D4A7CB2}"/>
              </a:ext>
            </a:extLst>
          </p:cNvPr>
          <p:cNvSpPr>
            <a:spLocks noGrp="1"/>
          </p:cNvSpPr>
          <p:nvPr/>
        </p:nvSpPr>
        <p:spPr>
          <a:xfrm>
            <a:off x="6477000" y="1257300"/>
            <a:ext cx="4476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6"/>
          </a:bodyPr>
          <a:lstStyle/>
          <a:p>
            <a:pPr algn="l">
              <a:defRPr sz="1425" b="1">
                <a:solidFill>
                  <a:srgbClr val="F26B5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26B5E"/>
                </a:solidFill>
                <a:latin typeface="Aptos"/>
                <a:ea typeface="Aptos"/>
                <a:cs typeface="Aptos"/>
              </a:rPr>
              <a:t>Recommended next steps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A79B46-002B-4D57-8AAA-0290A0235D96}"/>
              </a:ext>
            </a:extLst>
          </p:cNvPr>
          <p:cNvSpPr>
            <a:spLocks noGrp="1"/>
          </p:cNvSpPr>
          <p:nvPr/>
        </p:nvSpPr>
        <p:spPr>
          <a:xfrm>
            <a:off x="6477000" y="1676400"/>
            <a:ext cx="4857750" cy="3276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• Monitor ROAS, CPA and conversion rate together.</a:t>
            </a:r>
          </a:p>
          <a:p>
            <a:endParaRPr sz="1500" b="0">
              <a:solidFill>
                <a:srgbClr val="152536"/>
              </a:solidFill>
              <a:latin typeface="Aptos"/>
              <a:ea typeface="Aptos"/>
              <a:cs typeface="Aptos"/>
            </a:endParaRPr>
          </a:p>
          <a:p>
            <a:pPr algn="l">
              <a:defRPr sz="150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• Test keyword and audience combinations instead of increasing spend broadly.</a:t>
            </a:r>
          </a:p>
          <a:p>
            <a:endParaRPr sz="1500" b="0">
              <a:solidFill>
                <a:srgbClr val="152536"/>
              </a:solidFill>
              <a:latin typeface="Aptos"/>
              <a:ea typeface="Aptos"/>
              <a:cs typeface="Aptos"/>
            </a:endParaRPr>
          </a:p>
          <a:p>
            <a:pPr algn="l">
              <a:defRPr sz="150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• Extend the analysis across more months, campaigns and locations.</a:t>
            </a:r>
          </a:p>
          <a:p>
            <a:endParaRPr sz="1500" b="0">
              <a:solidFill>
                <a:srgbClr val="152536"/>
              </a:solidFill>
              <a:latin typeface="Aptos"/>
              <a:ea typeface="Aptos"/>
              <a:cs typeface="Aptos"/>
            </a:endParaRPr>
          </a:p>
          <a:p>
            <a:pPr algn="l">
              <a:defRPr sz="1500" b="0">
                <a:solidFill>
                  <a:srgbClr val="1525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536"/>
                </a:solidFill>
                <a:latin typeface="Aptos"/>
                <a:ea typeface="Aptos"/>
                <a:cs typeface="Aptos"/>
              </a:rPr>
              <a:t>• Validate results with experiments before making causal claims.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1C6BE0B-D3CE-4D84-BC79-24D86BC1A278}"/>
              </a:ext>
            </a:extLst>
          </p:cNvPr>
          <p:cNvSpPr>
            <a:spLocks noGrp="1"/>
          </p:cNvSpPr>
          <p:nvPr/>
        </p:nvSpPr>
        <p:spPr>
          <a:xfrm>
            <a:off x="666750" y="5562600"/>
            <a:ext cx="10668000" cy="533400"/>
          </a:xfrm>
          <a:prstGeom prst="roundRect">
            <a:avLst>
              <a:gd name="adj" fmla="val 14286"/>
            </a:avLst>
          </a:prstGeom>
          <a:solidFill>
            <a:srgbClr val="102A43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1F1AA9-BFA8-4BA1-A816-BE830A62F680}"/>
              </a:ext>
            </a:extLst>
          </p:cNvPr>
          <p:cNvSpPr>
            <a:spLocks noGrp="1"/>
          </p:cNvSpPr>
          <p:nvPr/>
        </p:nvSpPr>
        <p:spPr>
          <a:xfrm>
            <a:off x="838200" y="5648325"/>
            <a:ext cx="10287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Campaign decisions should combine return, acquisition cost and conversion quality.</a:t>
            </a:r>
          </a:p>
        </p:txBody>
      </p:sp>
    </p:spTree>
    <p:extLst>
      <p:ext uri="{BB962C8B-B14F-4D97-AF65-F5344CB8AC3E}">
        <p14:creationId xmlns:p14="http://schemas.microsoft.com/office/powerpoint/2010/main" val="4548656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850</Words>
  <Application>Microsoft Office PowerPoint</Application>
  <DocSecurity>0</DocSecurity>
  <PresentationFormat>Widescreen</PresentationFormat>
  <Paragraphs>185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DOSEENA DOJU</cp:lastModifiedBy>
  <cp:revision>1</cp:revision>
  <dcterms:created xsi:type="dcterms:W3CDTF">2026-09-20T10:31:35Z</dcterms:created>
  <dcterms:modified xsi:type="dcterms:W3CDTF">2026-09-20T10:37:41Z</dcterms:modified>
</cp:coreProperties>
</file>